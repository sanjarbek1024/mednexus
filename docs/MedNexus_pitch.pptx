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Salom! Biz MedNexus jamoasimiz. Muammo №6: rentgen va KT tahlilida AI ishlatilmoqda, lekin etik va xavfsizlik standarti yo'q, tibbiy ta'limda esa AI moduli yo'q. MedNexus — bemorga tushunarli javob, shifokorga ishonchli yordamchi va talabalar uchun AI bilan xavfsiz ishlashni o'rgatuvchi platforma.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Bizning mahsulot uch foydalanuvchiga xizmat qiladi: oddiy odam o'z rasmini tushunadi, shifokor vaqtini tejaydi, tibbiyot talabalari va rezidentlar esa AI bilan to'g'ri ishlashni o'rganadi. Hammasi bitta xavfsizlik standarti ostida.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O'zbekistonda 38,2 mln aholiga taxminan 1 000 radiolog to'g'ri keladi — 100 ming kishiga 2,6 ta. Sog'liqni saqlash vaziri rentgenologni eng taqchil 4 mutaxassislikdan biri deb atagan. Shu bilan birga AI rentgen va KT tahlilida ishlatila boshlandi, lekin standart yo'q: kim javobgar, AI qanday tekshiriladi, shifokorlar qanday o'qitiladi — noma'lum.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Jarayon: foydalanuvchi rasmini va simptomlarini yuklaydi. Avval xavfsizlik darvozalari rasm sifatini va to'g'ri turdagi rasm ekanini tekshiradi. Keyin ixtisoslashgan ochiq modellar ishlaydi, vision-language model rasm, model natijalari va simptomlarni birga o'qib taxminiy differensial beradi. Shifokor tasdiqlaydi, bemorga kerakli shifoxona tavsiya qilinadi.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Chapda — oddiy foydalanuvchi ko'radigan natija: taxminiy ehtimolliklar, sabablar, keyingi qadamlar. O'ngda — shifokor ko'rinishi: Grad-CAM issiqlik xaritasi, o'pka va yurak konturlari, ikki model kelishuvi va bir tugma bilan tasdiqlash. Demoda buni jonli ko'rsatamiz.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№6 ning asosiy talabi — xavfsizlik va etika standarti. Biz uni qog'ozda emas, kodda amalga oshirdik: 8 ta qoida har bir tahlilda ishlaydi. Masalan, AI hech qachon 100% demaydi, har bir harakat o'zgartirib bo'lmaydigan audit zanjirida saqlanadi, shifokorlar esa AI xatolarini ko'r o'qish trenajyorida o'rganadi.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Qonunchilik: shaxsiy ma'lumotlar qonuniga ko'ra ma'lumotlar O'zbekistonda saqlanishi kerak — ochiq modellarimiz tufayli tizim to'liq mahalliy serverda ishlay oladi. Davlat AI strategiyasi va 2025-yil iyulidagi rentgen/KT AI ustuvor loyihasi aynan shu yo'nalishni qo'llaydi. Ta'sir: bemor, shifokor va talaba — uchala guruh.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yo'nalishga alohida, ochiq va litsenziyasi aniq model: ko'krak uchun ikki CNN ansambli NIH, CheXpert, MIMIC-CXR, PadChest kabi yirik ochiq datasetlarda o'qitilgan; sinish uchun YOLOv7; miya MRT uchun Transformer — ViT-B/16, model kartasida 97,6% validatsiya aniqligi. Raqamlarni faqat manbasi bilan aytamiz — bizning namunalardagi natijalar klinik validatsiya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Arxitektura modulli: har bir model — plagin, analyzers.yaml ga bitta yozuv qo'shiladi. Keyingi texnik qadam — Transformer modelni o'zimiz o'qitish: notebook tayyor. Ochiq figshare datasetida uch proyeksiyadagi 3 064 MRT kesim bor; bemor bo'yicha bo'lamiz, Swin-T yoki ViT ni fine-tune qilamiz, kalibratsiya va Grad-CAM bilan tekshiramiz, ONNX orqali ilovaga ulaymiz.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Bozorni pastdan yuqoriga hisobladik va har bir taxminni ochiq aytamiz. TAM: yiliga 7,6 mln kishi rentgen yoki MRT oladi deb faraz qilsak, taxminan 17 mln dollar. SAM — smartfon va onlayn to'lovga tayyor shahar aholisi, 5 mln dollar. SOM — ikki yilda Namangan va Toshkentda real olishimiz mumkin bo'lgan ulush: taxminan 100 ming dollar. Bu raqamlarni pilotda tekshiramiz.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Raqobatchilar: Qure.ai, Lunit kabi kasalxona AI'lari faqat shifokor uchun, qimmat litsenziya bilan va o'zbek tilida emas. Ada kabi simptom chekerlar rasmni ko'rmaydi. Oddiy yo'l — navbat va kutish. Bizning farqimiz: rasm va simptom birga, o'zbek tilida, xavfsizlik standarti va ta'lim moduli ichida.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 modeli: bemor uchun 5 ta tahlil bepul, keyin har biri 1–2 dollar. Hamkor klinikalar bizdan yo'naltirilgan har bir qabul uchun 3% to'laydi. Shifokorlar uchun Pro obuna — pilot davrida bepul. AI unit economics: bir tahlilning AI xarajati bir sentdan kam, shuning uchun har bir tahlil foydali; cheksiz tarif qo'ymaymiz — eng faol foydalanuvchi eng katta zararga aylanmaydi.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Hozir: ishlaydigan MVP — uch yo'nalish, ikki rol, uch til, avtotestlar. 3 oyda Namangandagi 2 klinika bilan pilot va 1 000 rasmda radiolog bilan retrospektiv tekshiruv. 1 yilda 10 ming foydalanuvchi va 20 hamkor klinika. Asosiy ko'rsatkich — o'z vaqtida shifokorga yetib borgan bemorlar soni.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Jamoa a'zolari: ismlar, rollar va tajribani shu yerga yozing.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Rahmat! Demo akkauntlar va GitHub havolasi ekranda. Savollaringizga javob beramiz.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image" Target="../media/image-11-3.png"/><Relationship Id="rId8" Type="http://schemas.openxmlformats.org/officeDocument/2006/relationships/image" Target="../media/image-11-3.png"/><Relationship Id="rId9" Type="http://schemas.openxmlformats.org/officeDocument/2006/relationships/image" Target="../media/image-11-2.png"/><Relationship Id="rId10" Type="http://schemas.openxmlformats.org/officeDocument/2006/relationships/image" Target="../media/image-11-3.png"/><Relationship Id="rId11" Type="http://schemas.openxmlformats.org/officeDocument/2006/relationships/image" Target="../media/image-11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№6  ·  TIBBIYOT TREKI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13232" cy="713232"/>
          </a:xfrm>
          <a:prstGeom prst="roundRect">
            <a:avLst>
              <a:gd name="adj" fmla="val 25641"/>
            </a:avLst>
          </a:prstGeom>
          <a:solidFill>
            <a:srgbClr val="059669"/>
          </a:solidFill>
          <a:ln/>
          <a:effectLst>
            <a:outerShdw sx="100000" sy="100000" kx="0" ky="0" algn="bl" rotWithShape="0" blurRad="203200" dist="50800" dir="5400000">
              <a:srgbClr val="0B3B2E">
                <a:alpha val="35000"/>
              </a:srgbClr>
            </a:outerShdw>
          </a:effectLst>
        </p:spPr>
      </p:sp>
      <p:pic>
        <p:nvPicPr>
          <p:cNvPr id="5" name="Image 0" descr="Activity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43584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0241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Rentgen va MRT tasvirlari uchun xavfsiz sun'iy intellekt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163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Bemorga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tushunarli javob.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Shifokorga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ishonchli yordamchi.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Talabaga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7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 bilan xavfsiz ishlash maktabi.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37033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Ko'krak rentgeni · flyuorografiya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07208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807208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Suyak sinishi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05656" y="3703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105656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Miya MRT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#MilliyAIXakaton   #NamanganAI   2026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63640" y="384048"/>
            <a:ext cx="2240280" cy="4407408"/>
          </a:xfrm>
          <a:prstGeom prst="roundRect">
            <a:avLst>
              <a:gd name="adj" fmla="val 13061"/>
            </a:avLst>
          </a:prstGeom>
          <a:solidFill>
            <a:srgbClr val="0A1512"/>
          </a:solidFill>
          <a:ln w="12700">
            <a:solidFill>
              <a:srgbClr val="2F5D4F"/>
            </a:solidFill>
            <a:prstDash val="solid"/>
          </a:ln>
          <a:effectLst>
            <a:outerShdw sx="100000" sy="100000" kx="0" ky="0" algn="bl" rotWithShape="0" blurRad="304800" dist="101600" dir="5400000">
              <a:srgbClr val="0B3B2E">
                <a:alpha val="50000"/>
              </a:srgbClr>
            </a:outerShdw>
          </a:effectLst>
        </p:spPr>
      </p:sp>
      <p:pic>
        <p:nvPicPr>
          <p:cNvPr id="17" name="Image 1" descr="Telefonda bemor natijasi sahif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493776"/>
            <a:ext cx="2020824" cy="40599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37760" y="4069080"/>
            <a:ext cx="1783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3B2E">
                <a:alpha val="3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074920" y="4133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90%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451713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taxminiy ehtimollik — hech qachon 100% emas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kimmiz?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— rasm va simptomlarni birga o'qib, tushunarli va xavfsiz xulosa beradigan AI platforma.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060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57276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UserRound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1739189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3232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uchun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Rentgen yoki MRT rasmi + simptomlar → 1 daqiqada oddiy tilda xulosa, mumkin bo'lgan sabablar, keyingi qadamlar va kerakli shifoxona.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6060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02152" y="157276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4" name="Image 1" descr="Stethoscope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573" y="173918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02152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 uchun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02152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Shoshilinchlik bo'yicha saralangan navbat, issiqlik xaritasi, model kelishuvi, tayyor hisobot qoralamasi va imzo.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325880"/>
            <a:ext cx="26060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157276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9" name="Image 2" descr="GraduationCap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3" y="173918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91072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va xavfsizlik uchun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291072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 o'qish trenajyori, «AI xato qilgan holatlar» to'plami, audit zanjiri va AI xavfsizlik standarti.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886200"/>
            <a:ext cx="8183880" cy="566928"/>
          </a:xfrm>
          <a:prstGeom prst="roundRect">
            <a:avLst>
              <a:gd name="adj" fmla="val 22581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5400000">
              <a:srgbClr val="0B3B2E">
                <a:alpha val="8000"/>
              </a:srgbClr>
            </a:outerShdw>
          </a:effectLst>
        </p:spPr>
      </p:sp>
      <p:pic>
        <p:nvPicPr>
          <p:cNvPr id="23" name="Image 3" descr="ShieldCheck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00507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0" y="3886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kodli modellar  ·  o'zbek, rus va ingliz tillarida  ·  yakuniy qarorni har doim shifokor qabul qiladi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Muammo: AI ishlatilmoqda — lekin qoidasiz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№6 va uni tasdiqlovchi raqamlar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017520" cy="2148840"/>
          </a:xfrm>
          <a:prstGeom prst="roundRect">
            <a:avLst>
              <a:gd name="adj" fmla="val 5957"/>
            </a:avLst>
          </a:prstGeom>
          <a:solidFill>
            <a:srgbClr val="064E3B"/>
          </a:solidFill>
          <a:ln/>
          <a:effectLst>
            <a:outerShdw sx="100000" sy="100000" kx="0" ky="0" algn="bl" rotWithShape="0" blurRad="177800" dist="50800" dir="5400000">
              <a:srgbClr val="0B3B2E">
                <a:alpha val="25000"/>
              </a:srgbClr>
            </a:outerShdw>
          </a:effectLst>
        </p:spPr>
      </p:sp>
      <p:pic>
        <p:nvPicPr>
          <p:cNvPr id="8" name="Image 0" descr="Siren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3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19202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«Rentgen va KT tasvirlarini tahlil qilishda AI ishlatilsa-da, etik va xavfsizlik standartlari belgilanmagan; tibbiy ta'limda AI modullar yo'q.»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Xakatonning dolzarb muammolari ro'yxati, №6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0" y="1280160"/>
            <a:ext cx="1572768" cy="214884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79476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~2,6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794760" y="20848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 100 ming aholiga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6700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≈1 000 radiolog / 38,2 mln aholi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49240" y="1280160"/>
            <a:ext cx="1572768" cy="214884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48640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20848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taqchil mutaxassislik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26700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ulardan biri — rentgenolog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040880" y="1280160"/>
            <a:ext cx="1572768" cy="214884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17804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 ming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178040" y="20848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shifokor o'rni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26700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ming shifokor 1+ stavkada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639312"/>
            <a:ext cx="3977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3858768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07008" y="36393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rasm natijasini tushunmaydi: radiologni kutadi yoki internetdagi taxminlarga ishonadi.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0" y="3639312"/>
            <a:ext cx="39776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858768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75488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321808" y="363931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vositalarida sifat nazorati, tushuntirish, audit va o'qitish yo'q — xato uchun mas'uliyat noaniq.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017520" y="4828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stat.uz (01.01.2026); Korean J. Radiology, 2025 (Markaziy Osiyo radiologiyasi); Gazeta.uz, 24.12.2025 (SSV vaziri, Oliy Majlis).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Yechim: MedNexus qanday ishlaydi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rasm besh bosqichdan o'tadi — AI yordam beradi, qarorni shifokor qabul qiladi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517904" cy="210312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148132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Upload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1647749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2240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Rasm + simptomlar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6974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Rentgen, flyuorografiya, miya MRT; DICOM, PNG, JPG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56816" y="2103120"/>
            <a:ext cx="192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130552" y="1298448"/>
            <a:ext cx="1517904" cy="210312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9464" y="148132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5" name="Image 1" descr="ShieldCheck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885" y="164774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40280" y="2240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Xavfsizlik darvozalari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2240280" y="26974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Sifat, DICOM, anatomiya va OOD: noto'g'ri rasm rad etiladi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3630168" y="2103120"/>
            <a:ext cx="192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3803904" y="1298448"/>
            <a:ext cx="1517904" cy="210312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42816" y="148132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21" name="Image 2" descr="Cpu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237" y="1647749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13632" y="2240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Ixtisoslashgan modellar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913632" y="26974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Ansambl CNN, YOLOv7, ViT-B/16 + Grad-CAM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303520" y="2103120"/>
            <a:ext cx="192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477256" y="1298448"/>
            <a:ext cx="1517904" cy="210312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916168" y="148132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27" name="Image 3" descr="Sparkles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589" y="1647749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586984" y="2240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Multimodal xulosa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586984" y="26974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+ model + simptom → differensial, har biri ≤ 90%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976872" y="2103120"/>
            <a:ext cx="192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7150608" y="1298448"/>
            <a:ext cx="1517904" cy="210312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89520" y="1481328"/>
            <a:ext cx="640080" cy="64008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33" name="Image 4" descr="Stethoscope ikonkas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941" y="1647749"/>
            <a:ext cx="307238" cy="30723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60336" y="2240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Shifokor va shifoxona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7260336" y="269748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 va imzo, chat, hamkor klinikaga yo'naltirish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57200" y="3639312"/>
            <a:ext cx="19202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621792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daqiqa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62179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rasmdan tushunarli xulosagacha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2542032" y="3639312"/>
            <a:ext cx="19202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2706624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til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2706624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· rus · ingliz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626864" y="3639312"/>
            <a:ext cx="1920240" cy="896112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43" name="Text 36"/>
          <p:cNvSpPr txBox="1"/>
          <p:nvPr/>
        </p:nvSpPr>
        <p:spPr>
          <a:xfrm>
            <a:off x="4791456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90%</a:t>
            </a:r>
            <a:endParaRPr lang="en-US" sz="2000" dirty="0"/>
          </a:p>
        </p:txBody>
      </p:sp>
      <p:sp>
        <p:nvSpPr>
          <p:cNvPr id="44" name="Text 37"/>
          <p:cNvSpPr txBox="1"/>
          <p:nvPr/>
        </p:nvSpPr>
        <p:spPr>
          <a:xfrm>
            <a:off x="4791456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hech qachon «100% aniq» demaydi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711696" y="3639312"/>
            <a:ext cx="19202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46" name="Text 39"/>
          <p:cNvSpPr txBox="1"/>
          <p:nvPr/>
        </p:nvSpPr>
        <p:spPr>
          <a:xfrm>
            <a:off x="6876288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Imzo</a:t>
            </a:r>
            <a:endParaRPr lang="en-US" sz="2000" dirty="0"/>
          </a:p>
        </p:txBody>
      </p:sp>
      <p:sp>
        <p:nvSpPr>
          <p:cNvPr id="47" name="Text 40"/>
          <p:cNvSpPr txBox="1"/>
          <p:nvPr/>
        </p:nvSpPr>
        <p:spPr>
          <a:xfrm>
            <a:off x="6876288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qaror — har doim inson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Mahsulot: ikki foydalanuvchi — bitta xavfsiz tizim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ilovadan skrinshotlar (demo bazasi)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8" name="Image 0" descr="UserRound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1274308"/>
            <a:ext cx="158008" cy="1580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1188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Bemor: taxminiy differensial, sabablar, keyingi qadamlar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" y="1636776"/>
            <a:ext cx="4041648" cy="260212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3B2E">
                <a:alpha val="22000"/>
              </a:srgbClr>
            </a:outerShdw>
          </a:effectLst>
        </p:spPr>
      </p:sp>
      <p:pic>
        <p:nvPicPr>
          <p:cNvPr id="11" name="Image 1" descr="Bemor natijasi: taxminiy differensial va ch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3931920" cy="2492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188720"/>
            <a:ext cx="329184" cy="329184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3" name="Image 2" descr="Stethoscope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028" y="1274308"/>
            <a:ext cx="158008" cy="1580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4920" y="1188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Shifokor: issiqlik xaritasi, model kelishuvi, imzo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54296" y="1636776"/>
            <a:ext cx="4041648" cy="2536596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3B2E">
                <a:alpha val="22000"/>
              </a:srgbClr>
            </a:outerShdw>
          </a:effectLst>
        </p:spPr>
      </p:sp>
      <p:pic>
        <p:nvPicPr>
          <p:cNvPr id="16" name="Image 3" descr="Shifokor ko'rinishi: issiqlik xaritasi va model balla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691640"/>
            <a:ext cx="3931920" cy="24268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812280" y="420624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681228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2/2 model rozi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85800" y="42062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85800" y="4206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· taxminiy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 MedNexus AI xavfsizlik standarti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№6 ga javob — har bir tahlil 8 qoidadan o'tadi va ilovada allaqachon ishlaydi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508760"/>
            <a:ext cx="502920" cy="5029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Users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" y="16395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 nazorati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1305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faqat qoralama. Yakuniy qaror va imzo shifokorda.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23744" y="132588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88336" y="1508760"/>
            <a:ext cx="502920" cy="5029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4" name="Image 1" descr="ShieldCheck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095" y="16395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300984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darvozalari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688336" y="21305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Sifat, DICOM, anatomiya, OOD: noto'g'ri rasm rad etiladi.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90288" y="132588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508760"/>
            <a:ext cx="502920" cy="5029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9" name="Image 2" descr="Gauge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16395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67528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Halol ehtimollik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1305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≠ ehtimollik. Taxmin ≤ 90%, «tashxis emas» belgisi.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656832" y="132588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21424" y="1508760"/>
            <a:ext cx="502920" cy="5029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24" name="Image 3" descr="Flame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183" y="16395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34072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821424" y="21305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konturlar, sinish ramkalari: AI nimaga qaradi.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297180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21792" y="3154680"/>
            <a:ext cx="502920" cy="50292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29" name="Image 4" descr="Fingerprint ikonkas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" y="328543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zanjiri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21792" y="37764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harakat SHA-256 zanjirida — o'zgartirib bo'lmaydi.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523744" y="297180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688336" y="3154680"/>
            <a:ext cx="502920" cy="50292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34" name="Image 5" descr="ChartColumn ikonkas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095" y="3285439"/>
            <a:ext cx="241402" cy="2414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300984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2688336" y="37764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AI–shifokor kelishuvi, rad etilgan rasmlar, xatolar statistikasi.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590288" y="297180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754880" y="3154680"/>
            <a:ext cx="502920" cy="50292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39" name="Image 6" descr="Lock ikonkas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5639" y="3285439"/>
            <a:ext cx="241402" cy="2414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367528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Maxfiylik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4754880" y="37764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anonimlashtiriladi, bemor faqat PX-taxallus bilan.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656832" y="2971800"/>
            <a:ext cx="1920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821424" y="3154680"/>
            <a:ext cx="502920" cy="50292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44" name="Image 7" descr="GraduationCap ikonkas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183" y="3285439"/>
            <a:ext cx="241402" cy="2414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434072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moduli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6821424" y="37764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 o'qish trenajyori va «AI xato qilgan holatlar».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Qonunchilik, amaliy qo'llanish va ta'sir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mezonlari: qonunchilikka muvofiqlik, amaliy qo'llanish, ta'sir ko'lami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6908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Scale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Qonunchilikka muvofiqlik</a:t>
            </a:r>
            <a:endParaRPr lang="en-US" sz="1400" dirty="0"/>
          </a:p>
        </p:txBody>
      </p:sp>
      <p:pic>
        <p:nvPicPr>
          <p:cNvPr id="11" name="Image 1" descr="CircleCheck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122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0848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O'RQ-547 «Shaxsiy ma'lumotlar to'g'risida»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O'zbekistonda: ochiq modellar mahalliy serverda ishlaydi, rasm anonimlashtiriladi</a:t>
            </a:r>
            <a:endParaRPr lang="en-US" sz="1000" dirty="0"/>
          </a:p>
        </p:txBody>
      </p:sp>
      <p:pic>
        <p:nvPicPr>
          <p:cNvPr id="13" name="Image 2" descr="CircleCheck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3405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27066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PQ-358 (2024), «AI strategiyasi 2030»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sog'liqni saqlash — ustuvor yo'nalish</a:t>
            </a:r>
            <a:endParaRPr lang="en-US" sz="1000" dirty="0"/>
          </a:p>
        </p:txBody>
      </p:sp>
      <p:pic>
        <p:nvPicPr>
          <p:cNvPr id="15" name="Image 3" descr="CircleCheck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558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33284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Vazirlar Mahkamasi ustuvor loyihasi (iyul 2025)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rentgen va KT uchun AI tasvir tahlili</a:t>
            </a:r>
            <a:endParaRPr lang="en-US" sz="1000" dirty="0"/>
          </a:p>
        </p:txBody>
      </p:sp>
      <p:pic>
        <p:nvPicPr>
          <p:cNvPr id="17" name="Image 4" descr="CircleCheck ikonkas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764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5840" y="3950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JSST (2021)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skriningida rentgen + kompyuter yordamida aniqlash tavsiya etilgan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709160" y="1280160"/>
            <a:ext cx="3931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864608" y="1408176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1" name="Image 5" descr="UserRound ikonkas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235" y="1531803"/>
            <a:ext cx="228234" cy="22823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504688" y="13533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daqiqada tushunarli javob va to'g'ri mutaxassisga yo'l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4709160" y="2130552"/>
            <a:ext cx="3931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864608" y="2258568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5" name="Image 6" descr="Stethoscope ikonkas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8235" y="2382195"/>
            <a:ext cx="228234" cy="22823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504688" y="22037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shoshilinch holatlar navbat boshida, hisobot qoralamasi tayyor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4709160" y="2980944"/>
            <a:ext cx="3931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0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4864608" y="3108960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9" name="Image 7" descr="GraduationCap ikonkas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8235" y="3232587"/>
            <a:ext cx="228234" cy="22823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504688" y="30540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va rezident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bilan xavfsiz ishlashni amaliyotda o'rganadi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09160" y="3831336"/>
            <a:ext cx="3931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B2E">
                <a:alpha val="10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864608" y="3959352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3" name="Image 8" descr="MapPin ikonkas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8235" y="4082979"/>
            <a:ext cx="228234" cy="22823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504688" y="39044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Ko'lam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Namangan klinikalarida pilot → respublika → Markaziy Osiyo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Texnik: ochiq kodli modellar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yo'nalish uchun alohida model — natijalar manbasi bilan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57400"/>
                <a:gridCol w="2011680"/>
                <a:gridCol w="182880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Yo'nalish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va arxitektura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Ma'lumot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Ko'rsatkich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Litsenziya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Ko'krak rentgeni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patologiya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 + ResNet-50 ansambl, Grad-CAM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+ 5 ochiq dataset: NIH, CheXpert, MIMIC-CXR, PadChest…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Kalibrlangan ball (0,50 chegara), 2 model kelishuvi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Anatomiya va OOD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PSPNet segmentatsiya; ResNet autoencoder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ChestX-Det; torchxrayvision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Yurak-ko'krak nisbati; rentgen emas → rad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Suyak sinishi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YOLOv7-p6 detektor (ONNX), ramkalar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GRAZPEDWRI-DX: 20 327 rasm, 6 091 bemor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maqolasi: YOLOv5, precision 0,917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GPL-3.0 (runtime)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Miya MRT — o'sma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ViT-B/16 — Transformer, 4 sinf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Glioma, meningioma, gipofiz, o'sma yo'q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Validatsiya aniqligi 97,6% (model kartasi)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xulosa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3.8 27B vision-language (ochiq vaznlar)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Rasm + model natijalari + simptomlar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Ehtimollik ≤ 90%, JSON, 3 til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Hisobot va chat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Faqat strukturali natija — rasmni ko'rmaydi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topmagan topilma o'chiriladi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76200" dist="25400" dir="5400000">
              <a:srgbClr val="0B3B2E">
                <a:alpha val="6000"/>
              </a:srgbClr>
            </a:outerShdw>
          </a:effectLst>
        </p:spPr>
      </p:sp>
      <p:pic>
        <p:nvPicPr>
          <p:cNvPr id="9" name="Image 0" descr="Microscope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2793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namuna rasmlarda: glioma 0,96 · meningioma 0,95 · gipofiz 0,96 · normal miya «o'sma yo'q» 0,98 · bilak sinishi 0,81  (klinik validatsiya emas — pilotda tekshiriladi)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 va Transformer o'qitish pipeline'i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Plagin arxitekturasi: yangi model = bitta klass + bitta YAML yozuv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3749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353312"/>
            <a:ext cx="384048" cy="38404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Smartphone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1453164"/>
            <a:ext cx="184343" cy="184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9848" y="129844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3 til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va shifokor interfeysi, mobil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929384"/>
            <a:ext cx="3749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2020824"/>
            <a:ext cx="384048" cy="384048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13" name="Image 1" descr="Server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2120676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69848" y="196596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rollar · CSRF · rate-limit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cookie, argon2, qulflash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596896"/>
            <a:ext cx="3749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" y="2688336"/>
            <a:ext cx="384048" cy="38404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17" name="Image 2" descr="Layers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2788188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9848" y="26334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Analizator registri (YAML)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darvozalar → modellar → Grad-CAM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264408"/>
            <a:ext cx="3749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6928" y="3355848"/>
            <a:ext cx="384048" cy="384048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21" name="Image 3" descr="Sparkles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3455700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69848" y="330098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VLM (Groq, ochiq vaznlar)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differensial, hisobot, chat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3931920"/>
            <a:ext cx="3749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66928" y="4023360"/>
            <a:ext cx="384048" cy="38404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25" name="Image 4" descr="Database ikonkas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80" y="4123212"/>
            <a:ext cx="184343" cy="184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69848" y="396849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audit zanjiri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o'zgartirib bo'lmaydi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434840" y="1261872"/>
            <a:ext cx="4206240" cy="3246120"/>
          </a:xfrm>
          <a:prstGeom prst="roundRect">
            <a:avLst>
              <a:gd name="adj" fmla="val 3944"/>
            </a:avLst>
          </a:prstGeom>
          <a:solidFill>
            <a:srgbClr val="064E3B"/>
          </a:solidFill>
          <a:ln/>
          <a:effectLst>
            <a:outerShdw sx="100000" sy="100000" kx="0" ky="0" algn="bl" rotWithShape="0" blurRad="177800" dist="50800" dir="5400000">
              <a:srgbClr val="0B3B2E">
                <a:alpha val="25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o'qitish (Jupyter notebook)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4663440" y="18379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66344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047488" y="18105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Ma'lumot: figshare — 3 064 T1 kontrastli MRT kesim, 233 bemor, 2 shifoxona, aksial / koronal / sagittal (CC BY 4.0)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663440" y="226771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66344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047488" y="22402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bo'yicha bo'lish (70/15/15) — ma'lumot sizib chiqmaydi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663440" y="26974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46634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047488" y="26700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 / ViT-B/16 (ImageNet) fine-tune: AdamW, cosine, AMP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663440" y="312724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466344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5047488" y="30998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Baholash: accuracy, macro-F1, ROC-AUC, kalibratsiya (ECE, temperature scaling)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663440" y="3557016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466344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047488" y="35295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↔ o'sma maskasi; ONNX eksport → MedNexus plagini (CPU sinovi o'tdi)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663440" y="398678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466344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5047488" y="39593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Keyingi: klinikalar bilan anonim custom dataset, BraTS 3D (Swin-UNETR)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backend avtotest · Playwright e2e · Docker Compose · ONNX Runtime · PyTorch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Pastdan yuqoriga hisob: mijozlar soni × narx (O'zbekiston, yiliga)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377440" cy="2377440"/>
          </a:xfrm>
          <a:prstGeom prst="ellipse">
            <a:avLst/>
          </a:prstGeom>
          <a:solidFill>
            <a:srgbClr val="A7F3D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4420" y="1851660"/>
            <a:ext cx="1691640" cy="169164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219456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2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63040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298448"/>
            <a:ext cx="480060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023360" y="1389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$17 mln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719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 mln kishi yiliga rentgen yoki MRT oladi (taxmin: aholining 20%) × 1,5 tahlil × $1,5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2231136"/>
            <a:ext cx="480060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23360" y="23225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$5 mln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2651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va onlayn to'lovga tayyor shahar aholisi (taxmin: 30%): 2,3 mln kishi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3163824"/>
            <a:ext cx="480060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02336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236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$0,1 mln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3584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yil, Namangan + Toshkent: 50 ming pullik tahlil ($75K) + 3% komissiya + shifokor Pro obunasi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183880" cy="502920"/>
          </a:xfrm>
          <a:prstGeom prst="roundRect">
            <a:avLst>
              <a:gd name="adj" fmla="val 25455"/>
            </a:avLst>
          </a:prstGeom>
          <a:solidFill>
            <a:srgbClr val="ECFDF5"/>
          </a:solidFill>
          <a:ln/>
          <a:effectLst>
            <a:outerShdw sx="100000" sy="100000" kx="0" ky="0" algn="bl" rotWithShape="0" blurRad="76200" dist="25400" dir="5400000">
              <a:srgbClr val="0B3B2E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auditoriya: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25–60 yosh, smartfon foydalanuvchisi, o'zi yoki oila a'zosining rasmini tushunmoqchi; shifokorlar — xususiy klinika radiologlari va terapevtlar.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Taxminlar pilotda tekshiriladi · aholi soni: stat.uz, 01.01.2026 — 38,2 mln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va raqobatchilar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kasalxona AI'si ham, oddiy simptom chekeri ham emasmiz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  <a:effectLst>
            <a:outerShdw sx="100000" sy="100000" kx="0" ky="0" algn="bl" rotWithShape="0" blurRad="76200" dist="25400" dir="5400000">
              <a:srgbClr val="0B3B2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30352" y="12618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261872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5400000">
              <a:srgbClr val="0B3B2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79192" y="126187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1261872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  <a:effectLst>
            <a:outerShdw sx="100000" sy="100000" kx="0" ky="0" algn="bl" rotWithShape="0" blurRad="76200" dist="25400" dir="5400000">
              <a:srgbClr val="0B3B2E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87952" y="126187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Kasalxona AI (Qure.ai, Lunit)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261872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  <a:effectLst>
            <a:outerShdw sx="100000" sy="100000" kx="0" ky="0" algn="bl" rotWithShape="0" blurRad="76200" dist="25400" dir="5400000">
              <a:srgbClr val="0B3B2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696712" y="126187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Simptom chekerlar (Ada)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1261872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  <a:effectLst>
            <a:outerShdw sx="100000" sy="100000" kx="0" ky="0" algn="bl" rotWithShape="0" blurRad="76200" dist="25400" dir="5400000">
              <a:srgbClr val="0B3B2E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05472" y="1261872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Odatiy yo'l (poliklinika)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0352" y="18105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tilida, bemorga tushunarli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18105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20" name="Image 0" descr="CircleCheck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892808"/>
            <a:ext cx="237744" cy="23774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114800" y="18105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22" name="Image 1" descr="CircleX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892808"/>
            <a:ext cx="237744" cy="23774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623560" y="18105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24" name="Image 2" descr="CircleX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892808"/>
            <a:ext cx="237744" cy="23774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132320" y="1810512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205472" y="181051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 tushuntiradi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57200" y="226771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530352" y="22677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+ simptom birga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606040" y="22677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30" name="Image 3" descr="CircleCheck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350008"/>
            <a:ext cx="237744" cy="2377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114800" y="22677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4187952" y="22677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rasm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623560" y="22677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5696712" y="22677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simptom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132320" y="2267712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7205472" y="226771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57200" y="272491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530352" y="27249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standarti, audit, ta'lim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2606040" y="27249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40" name="Image 4" descr="CircleCheck ikonkas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2807208"/>
            <a:ext cx="237744" cy="237744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4114800" y="27249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4187952" y="27249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5623560" y="27249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44" name="Image 5" descr="CircleX ikonkas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807208"/>
            <a:ext cx="237744" cy="237744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7132320" y="2724912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46" name="Image 6" descr="CircleX ikonkas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7828" y="2807208"/>
            <a:ext cx="237744" cy="237744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457200" y="318211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48" name="Text 39"/>
          <p:cNvSpPr txBox="1"/>
          <p:nvPr/>
        </p:nvSpPr>
        <p:spPr>
          <a:xfrm>
            <a:off x="530352" y="31821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Klinikaga yo'naltirish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2606040" y="31821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50" name="Image 7" descr="CircleCheck ikonkas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8688" y="3264408"/>
            <a:ext cx="237744" cy="237744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4114800" y="31821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52" name="Image 8" descr="CircleX ikonkas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7448" y="3264408"/>
            <a:ext cx="237744" cy="237744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5623560" y="31821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54" name="Text 43"/>
          <p:cNvSpPr txBox="1"/>
          <p:nvPr/>
        </p:nvSpPr>
        <p:spPr>
          <a:xfrm>
            <a:off x="5696712" y="31821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132320" y="3182112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pic>
        <p:nvPicPr>
          <p:cNvPr id="56" name="Image 9" descr="CircleCheck ikonkas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7828" y="3264408"/>
            <a:ext cx="237744" cy="237744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457200" y="363931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58" name="Text 46"/>
          <p:cNvSpPr txBox="1"/>
          <p:nvPr/>
        </p:nvSpPr>
        <p:spPr>
          <a:xfrm>
            <a:off x="530352" y="36393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va tezlik</a:t>
            </a:r>
            <a:endParaRPr lang="en-US" sz="950" dirty="0"/>
          </a:p>
        </p:txBody>
      </p:sp>
      <p:sp>
        <p:nvSpPr>
          <p:cNvPr id="59" name="Shape 47"/>
          <p:cNvSpPr/>
          <p:nvPr/>
        </p:nvSpPr>
        <p:spPr>
          <a:xfrm>
            <a:off x="2606040" y="36393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60" name="Text 48"/>
          <p:cNvSpPr txBox="1"/>
          <p:nvPr/>
        </p:nvSpPr>
        <p:spPr>
          <a:xfrm>
            <a:off x="2679192" y="36393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 · 1 daqiqa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4114800" y="36393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62" name="Text 50"/>
          <p:cNvSpPr txBox="1"/>
          <p:nvPr/>
        </p:nvSpPr>
        <p:spPr>
          <a:xfrm>
            <a:off x="4187952" y="36393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kasalxona litsenziyasi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5623560" y="363931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64" name="Text 52"/>
          <p:cNvSpPr txBox="1"/>
          <p:nvPr/>
        </p:nvSpPr>
        <p:spPr>
          <a:xfrm>
            <a:off x="5696712" y="36393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/ obuna</a:t>
            </a:r>
            <a:endParaRPr lang="en-US" sz="900" dirty="0"/>
          </a:p>
        </p:txBody>
      </p:sp>
      <p:sp>
        <p:nvSpPr>
          <p:cNvPr id="65" name="Shape 53"/>
          <p:cNvSpPr/>
          <p:nvPr/>
        </p:nvSpPr>
        <p:spPr>
          <a:xfrm>
            <a:off x="7132320" y="3639312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B3B2E">
                <a:alpha val="6000"/>
              </a:srgbClr>
            </a:outerShdw>
          </a:effectLst>
        </p:spPr>
      </p:sp>
      <p:sp>
        <p:nvSpPr>
          <p:cNvPr id="66" name="Text 54"/>
          <p:cNvSpPr txBox="1"/>
          <p:nvPr/>
        </p:nvSpPr>
        <p:spPr>
          <a:xfrm>
            <a:off x="7205472" y="363931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navbat, kunlar</a:t>
            </a:r>
            <a:endParaRPr lang="en-US" sz="900" dirty="0"/>
          </a:p>
        </p:txBody>
      </p:sp>
      <p:sp>
        <p:nvSpPr>
          <p:cNvPr id="67" name="Shape 55"/>
          <p:cNvSpPr/>
          <p:nvPr/>
        </p:nvSpPr>
        <p:spPr>
          <a:xfrm>
            <a:off x="457200" y="4160520"/>
            <a:ext cx="8183880" cy="530352"/>
          </a:xfrm>
          <a:prstGeom prst="roundRect">
            <a:avLst>
              <a:gd name="adj" fmla="val 24138"/>
            </a:avLst>
          </a:prstGeom>
          <a:solidFill>
            <a:srgbClr val="064E3B"/>
          </a:solidFill>
          <a:ln/>
          <a:effectLst>
            <a:outerShdw sx="100000" sy="100000" kx="0" ky="0" algn="bl" rotWithShape="0" blurRad="177800" dist="50800" dir="5400000">
              <a:srgbClr val="0B3B2E">
                <a:alpha val="20000"/>
              </a:srgbClr>
            </a:outerShdw>
          </a:effectLst>
        </p:spPr>
      </p:sp>
      <p:sp>
        <p:nvSpPr>
          <p:cNvPr id="68" name="Text 56"/>
          <p:cNvSpPr txBox="1"/>
          <p:nvPr/>
        </p:nvSpPr>
        <p:spPr>
          <a:xfrm>
            <a:off x="658368" y="4160520"/>
            <a:ext cx="7818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biz?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Bemor, shifokor va ta'limni bitta xavfsizlik standarti ostida birlashtiramiz; o'zbek tilida; ochiq modellar tufayli arzon va mahalliy serverda ishlaydi.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to'laydi, qancha va nima uchun — va har bir tahlil foydali bo'lishi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926080" cy="2487168"/>
          </a:xfrm>
          <a:prstGeom prst="roundRect">
            <a:avLst>
              <a:gd name="adj" fmla="val 5147"/>
            </a:avLst>
          </a:prstGeom>
          <a:solidFill>
            <a:srgbClr val="064E3B"/>
          </a:solidFill>
          <a:ln/>
          <a:effectLst>
            <a:outerShdw sx="100000" sy="100000" kx="0" ky="0" algn="bl" rotWithShape="0" blurRad="177800" dist="50800" dir="5400000">
              <a:srgbClr val="0B3B2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508760"/>
            <a:ext cx="566928" cy="56692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Wallet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1656161"/>
            <a:ext cx="272125" cy="2721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3232" y="2212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to'lov + komissiya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9077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tahlil bepul, keyin har bir tahlil uchun to'lov; hamkor klinikalardan 3% komissiya.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1280160"/>
            <a:ext cx="50749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12464" y="1417320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Users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091" y="1540947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15968" y="13350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(B2C) · hamkor klinika va shifokor (B2B) · keyinroq: sug'urta va davlat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66160" y="2130552"/>
            <a:ext cx="50749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12464" y="2267712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Wallet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091" y="2391339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15968" y="21854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Qancha?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tahlil bepul → $1–2 / tahlil · yo'naltirilgan har bir qabuldan 3% · shifokor Pro obunasi (pilotda bepul)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566160" y="2980944"/>
            <a:ext cx="50749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3B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712464" y="3118104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2" name="Image 3" descr="Handshake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091" y="3241731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315968" y="30358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uchun?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Bemor: kunlab kutish o'rniga 1 daqiqada tushunarli javob. Klinika: tayyor, maqsadli bemor.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1920240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76200" dist="25400" dir="5400000">
              <a:srgbClr val="0B3B2E">
                <a:alpha val="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03504" y="3959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$0,01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03504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xarajati / tahlil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542032" y="3931920"/>
            <a:ext cx="19202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3B2E">
                <a:alpha val="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2688336" y="3959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2688336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/ tahlil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626864" y="3931920"/>
            <a:ext cx="19202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3B2E">
                <a:alpha val="8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4773168" y="3959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773168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yalpi marja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711696" y="3931920"/>
            <a:ext cx="19202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3B2E">
                <a:alpha val="8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6858000" y="39593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0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tarif — yo'q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tarifi: gpt-oss-120b — $0,15 / $0,60 (1 mln kirish / chiqish tokeni); bir tahlil ≈ 5–8 ming token (taxmin).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Maqsadlar va KPI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yillik real reja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7498080" cy="0"/>
          </a:xfrm>
          <a:prstGeom prst="line">
            <a:avLst/>
          </a:prstGeom>
          <a:noFill/>
          <a:ln w="3175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551176"/>
            <a:ext cx="292608" cy="292608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B3B2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261872"/>
            <a:ext cx="1792224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4088" y="13533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44752" y="139903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44752" y="13990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Sentabr 2026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7373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ko'krak, suyak, miya MRT · 2 rol · 3 til · 108 avtotest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92424" y="2551176"/>
            <a:ext cx="292608" cy="29260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B3B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42616" y="2971800"/>
            <a:ext cx="1792224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779776" y="3063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520440" y="310896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20440" y="31089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779776" y="34472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Namanganda 2 klinika · 1 000 rasmda radiolog bilan tekshiruv · 500 foydalanuvchi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68112" y="2551176"/>
            <a:ext cx="292608" cy="292608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B3B2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261872"/>
            <a:ext cx="1792224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55464" y="13533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yil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596128" y="139903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96128" y="13990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55464" y="17373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foydalanuvchi · 20 hamkor klinika · SSV bilan klinik sinov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2551176"/>
            <a:ext cx="292608" cy="292608"/>
          </a:xfrm>
          <a:prstGeom prst="ellipse">
            <a:avLst/>
          </a:prstGeom>
          <a:solidFill>
            <a:srgbClr val="064E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B3B2E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93992" y="2971800"/>
            <a:ext cx="1792224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931152" y="3063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671816" y="310896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71816" y="31089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Kengayish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34472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· KT va mammografiya · tibbiy vosita sifatida ro'yxat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o'z vaqtida shifokorga yetgan bemorlar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0440" y="431596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20440" y="4315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bepul → pullik konversiya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431596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068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AI–shifokor kelishuvi 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78040" y="431596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78040" y="4315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foydalanish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Kim? Tajriba? Rollar?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75320" y="347472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47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 ·  Umummilliy AI Xakaton  ·  Namangan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508760"/>
            <a:ext cx="822960" cy="82296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9" name="Image 0" descr="Crown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10" y="172273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rahbari / CEO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Mahsulot, pitch, hamkorlar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___ yil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42032" y="128016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90672" y="1508760"/>
            <a:ext cx="822960" cy="82296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16" name="Image 1" descr="Code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42" y="172273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33472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633472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ML muhandis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679192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Modellar, backend, xavfsizlik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2679192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___ yil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26864" y="128016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75504" y="1508760"/>
            <a:ext cx="822960" cy="82296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5400000">
              <a:srgbClr val="0B3B2E">
                <a:alpha val="25000"/>
              </a:srgbClr>
            </a:outerShdw>
          </a:effectLst>
        </p:spPr>
      </p:sp>
      <p:pic>
        <p:nvPicPr>
          <p:cNvPr id="23" name="Image 2" descr="Palette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74" y="1722730"/>
            <a:ext cx="395021" cy="39502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18304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718304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UI-UX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764024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Interfeys, 3 til, mobil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764024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___ yil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11696" y="1280160"/>
            <a:ext cx="1920240" cy="3200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3B2E">
                <a:alpha val="13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260336" y="1508760"/>
            <a:ext cx="822960" cy="822960"/>
          </a:xfrm>
          <a:prstGeom prst="ellipse">
            <a:avLst/>
          </a:prstGeom>
          <a:solidFill>
            <a:srgbClr val="064E3B"/>
          </a:solidFill>
          <a:ln/>
        </p:spPr>
      </p:sp>
      <p:pic>
        <p:nvPicPr>
          <p:cNvPr id="30" name="Image 3" descr="Stethoscope ikonk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306" y="1722730"/>
            <a:ext cx="395021" cy="39502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803136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6803136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maslahatchisi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848856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Shifokor: validatsiya va etika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848856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___ yil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MedNexus — AI yordam beradi, qarorni shifokor qabul qiladi.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5" name="Image 0" descr="Globe ikonk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883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user@mednexus.uz · doctor@mednexus.uz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1" descr="Lock ikonk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163824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Parol: MedNexus-Demo-2026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1" name="Image 2" descr="Code ikonk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393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3557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github.com/Sanjarbek1024/MedNexus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2062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48640" y="4206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Savollaringiz?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40680" y="1188720"/>
            <a:ext cx="3246120" cy="2327656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79400" dist="101600" dir="5400000">
              <a:srgbClr val="0B3B2E">
                <a:alpha val="45000"/>
              </a:srgbClr>
            </a:outerShdw>
          </a:effectLst>
        </p:spPr>
      </p:sp>
      <p:pic>
        <p:nvPicPr>
          <p:cNvPr id="16" name="Image 3" descr="Miya MRT natijasi sahif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234440"/>
            <a:ext cx="3154680" cy="217322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20640" y="3246120"/>
            <a:ext cx="19202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0B3B2E">
                <a:alpha val="40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2578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Miya MRT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525780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· 0,96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MedNexus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MedNexus — Umummilliy AI Xakaton, Namangan 2026</dc:title>
  <dc:subject>Pitch</dc:subject>
  <dc:creator>MedNexus jamoasi</dc:creator>
  <cp:lastModifiedBy>MedNexus jamoasi</cp:lastModifiedBy>
  <cp:revision>1</cp:revision>
  <dcterms:created xsi:type="dcterms:W3CDTF">2026-09-26T04:57:44Z</dcterms:created>
  <dcterms:modified xsi:type="dcterms:W3CDTF">2026-09-26T04:57:44Z</dcterms:modified>
</cp:coreProperties>
</file>